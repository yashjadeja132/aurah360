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_MASTER">
    <p:bg>
      <p:bgPr>
        <a:solidFill>
          <a:srgbClr val="FB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_MASTER">
    <p:bg>
      <p:bgPr>
        <a:solidFill>
          <a:srgbClr val="1E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3E7A5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143C2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spc="600" kern="0" dirty="0">
                <a:solidFill>
                  <a:srgbClr val="C99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AURAH 360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ClinicOS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home for every patient's care — from a first phone call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years of visits, remembered and looked after.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623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calmer way to run a growing skin, hair &amp; laser clinic — for owners, doctors, staff and patients alike.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fast is exciting.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fast on paper and WhatsApp isn't.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7A5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414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5A4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40487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enquiries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live across WhatsApp chats, phone calls and notebooks — easy to lose, hard to follow up 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7A5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4414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5A4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240487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patient record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patient's history, photos and past treatments sit in different files at different branches.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7A5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7274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5A4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27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69087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easy-to-miss follow-ups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53035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Recalls, reminders and after-care check-ins depend on someone remembering.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4348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7A5E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7274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5A4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727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69087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view for the owner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53035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stock and branch performance are only visible after the fact, if at all.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patient record.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visit, remembered.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 follows a patient from the moment they first enquire,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every appointment, treatment and bill, to years of loyal follow-up care —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nothing falls through the cracks, and no one has to ask twice.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532120"/>
            <a:ext cx="7589520" cy="0"/>
          </a:xfrm>
          <a:prstGeom prst="line">
            <a:avLst/>
          </a:prstGeom>
          <a:noFill/>
          <a:ln w="25400">
            <a:solidFill>
              <a:srgbClr val="C99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715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Aurah 360 — the way this clinic actually works, not a generic template.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first hello, to years of care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52E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journey, seen and tracked end to end — nothing re-typed, nothing lost in translation between desks.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3703320"/>
            <a:ext cx="10149840" cy="0"/>
          </a:xfrm>
          <a:prstGeom prst="line">
            <a:avLst/>
          </a:prstGeom>
          <a:noFill/>
          <a:ln w="38100">
            <a:solidFill>
              <a:srgbClr val="C99A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447288"/>
            <a:ext cx="512064" cy="512064"/>
          </a:xfrm>
          <a:prstGeom prst="ellipse">
            <a:avLst/>
          </a:prstGeom>
          <a:solidFill>
            <a:srgbClr val="1E5A40"/>
          </a:solidFill>
          <a:ln w="38100">
            <a:solidFill>
              <a:srgbClr val="FBF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447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2468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319272"/>
            <a:ext cx="0" cy="384048"/>
          </a:xfrm>
          <a:prstGeom prst="line">
            <a:avLst/>
          </a:prstGeom>
          <a:noFill/>
          <a:ln w="12700">
            <a:solidFill>
              <a:srgbClr val="C99A4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79776" y="3447288"/>
            <a:ext cx="512064" cy="512064"/>
          </a:xfrm>
          <a:prstGeom prst="ellipse">
            <a:avLst/>
          </a:prstGeom>
          <a:solidFill>
            <a:srgbClr val="1E5A40"/>
          </a:solidFill>
          <a:ln w="38100">
            <a:solidFill>
              <a:srgbClr val="FBF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3447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12848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35808" y="3959352"/>
            <a:ext cx="0" cy="256032"/>
          </a:xfrm>
          <a:prstGeom prst="line">
            <a:avLst/>
          </a:prstGeom>
          <a:noFill/>
          <a:ln w="12700">
            <a:solidFill>
              <a:srgbClr val="C99A4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809744" y="3447288"/>
            <a:ext cx="512064" cy="512064"/>
          </a:xfrm>
          <a:prstGeom prst="ellipse">
            <a:avLst/>
          </a:prstGeom>
          <a:solidFill>
            <a:srgbClr val="1E5A40"/>
          </a:solidFill>
          <a:ln w="38100">
            <a:solidFill>
              <a:srgbClr val="FBF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3447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42816" y="2468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Queue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65776" y="3319272"/>
            <a:ext cx="0" cy="384048"/>
          </a:xfrm>
          <a:prstGeom prst="line">
            <a:avLst/>
          </a:prstGeom>
          <a:noFill/>
          <a:ln w="12700">
            <a:solidFill>
              <a:srgbClr val="C99A4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839712" y="3447288"/>
            <a:ext cx="512064" cy="512064"/>
          </a:xfrm>
          <a:prstGeom prst="ellipse">
            <a:avLst/>
          </a:prstGeom>
          <a:solidFill>
            <a:srgbClr val="1E5A40"/>
          </a:solidFill>
          <a:ln w="38100">
            <a:solidFill>
              <a:srgbClr val="FBF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3447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72784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095744" y="3959352"/>
            <a:ext cx="0" cy="256032"/>
          </a:xfrm>
          <a:prstGeom prst="line">
            <a:avLst/>
          </a:prstGeom>
          <a:noFill/>
          <a:ln w="12700">
            <a:solidFill>
              <a:srgbClr val="C99A4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869680" y="3447288"/>
            <a:ext cx="512064" cy="512064"/>
          </a:xfrm>
          <a:prstGeom prst="ellipse">
            <a:avLst/>
          </a:prstGeom>
          <a:solidFill>
            <a:srgbClr val="1E5A40"/>
          </a:solidFill>
          <a:ln w="38100">
            <a:solidFill>
              <a:srgbClr val="FBF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447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02752" y="24688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25712" y="3319272"/>
            <a:ext cx="0" cy="384048"/>
          </a:xfrm>
          <a:prstGeom prst="line">
            <a:avLst/>
          </a:prstGeom>
          <a:noFill/>
          <a:ln w="12700">
            <a:solidFill>
              <a:srgbClr val="C99A4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899648" y="3447288"/>
            <a:ext cx="512064" cy="512064"/>
          </a:xfrm>
          <a:prstGeom prst="ellipse">
            <a:avLst/>
          </a:prstGeom>
          <a:solidFill>
            <a:srgbClr val="1E5A40"/>
          </a:solidFill>
          <a:ln w="38100">
            <a:solidFill>
              <a:srgbClr val="FBF3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99648" y="3447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332720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Recall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1155680" y="3959352"/>
            <a:ext cx="0" cy="256032"/>
          </a:xfrm>
          <a:prstGeom prst="line">
            <a:avLst/>
          </a:prstGeom>
          <a:noFill/>
          <a:ln w="12700">
            <a:solidFill>
              <a:srgbClr val="C99A4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7A5E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50749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writes to the same patient record — so a doctor at any branch can see what happened last visit, and the front desk never asks a returning patient to “start from scratch.”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3E7A5C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94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457200" cy="0"/>
          </a:xfrm>
          <a:prstGeom prst="line">
            <a:avLst/>
          </a:prstGeom>
          <a:noFill/>
          <a:ln w="25400">
            <a:solidFill>
              <a:srgbClr val="C99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find the patient in one search, not five.”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5943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54864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check-in. One search box. Never a duplicate patient.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34840" y="1801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finds everyone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or old file number — the right patient record comes up instantly, first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284149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84149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73177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everyone can see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309753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board shows who's waiting, who's with which doctor, and who's next — no shouting down the hallway.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8816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38816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719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without the back-and-forth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413766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are checked against each doctor's real schedule, so double-booking simply can't happen.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34840" y="492175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9217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481203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that just works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517779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are ready the moment a treatment plan is approved — partial payments and receipts, no spreadsheets.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experience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3E7A5C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94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457200" cy="0"/>
          </a:xfrm>
          <a:prstGeom prst="line">
            <a:avLst/>
          </a:prstGeom>
          <a:noFill/>
          <a:ln w="25400">
            <a:solidFill>
              <a:srgbClr val="C99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everything before I say a word — and I still sign every note myself.”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5943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54864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history at a glance. A guided consult. Notes that stay yours.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34840" y="1801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already informed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visits, photos, treatments and prescriptions open before the patient sits down.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284149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84149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73177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gently guided consultation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309753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notes keep every exam consistent, whichever doctor or branch a patient visits next.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8816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38816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719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the doctor decides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413766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can suggest questions or draft notes — every suggestion must be reviewed, edited or approved before it's saved.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34840" y="492175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9217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481203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and plans in minutes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517779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prescriptions and treatment plans are ready to print and sign — locked once finalized, for a clean clinical record.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experience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5A40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3E7A5C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94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&amp; PHARMACY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Team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457200" cy="0"/>
          </a:xfrm>
          <a:prstGeom prst="line">
            <a:avLst/>
          </a:prstGeom>
          <a:noFill/>
          <a:ln w="25400">
            <a:solidFill>
              <a:srgbClr val="C99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6888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exactly what's next, and what's already been paid for.”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5943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54864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queue, a clear checklist, nothing missed.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34840" y="1801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only start when they should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treatment session opens only once payment is confirmed — no awkward conversations at the chair.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284149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84149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73177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every time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309753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checklists keep every laser, skin or hair session consistent, whoever is running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8816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38816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719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dispensed safely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413766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hands out exactly what's prescribed, and stock updates itself — expired batches are blocked automatically.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34840" y="492175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1E4CE"/>
          </a:solidFill>
          <a:ln w="12700">
            <a:solidFill>
              <a:srgbClr val="1E5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9217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481203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that doesn't run out quietly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5177790"/>
            <a:ext cx="6309360" cy="628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and reorder alerts mean the right consumables are on the shelf before they're needed.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experience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owner: see the whole clinic, not just one desk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waiting for month-end to find out how the clinic really did.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1E5A40"/>
          </a:solidFill>
          <a:ln/>
          <a:effectLst>
            <a:outerShdw sx="100000" sy="100000" kx="0" ky="0" algn="bl" rotWithShape="0" blurRad="76200" dist="25400" dir="5400000">
              <a:srgbClr val="8A7A5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99A4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315468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840480"/>
            <a:ext cx="20299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income across every branch, service and doctor — updated as bills are paid, not at month-end.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214884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1E5A40"/>
          </a:solidFill>
          <a:ln/>
          <a:effectLst>
            <a:outerShdw sx="100000" sy="100000" kx="0" ky="0" algn="bl" rotWithShape="0" blurRad="76200" dist="25400" dir="5400000">
              <a:srgbClr val="8A7A5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12464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99A4B"/>
          </a:solidFill>
          <a:ln/>
        </p:spPr>
      </p:sp>
      <p:sp>
        <p:nvSpPr>
          <p:cNvPr id="12" name="Text 10"/>
          <p:cNvSpPr/>
          <p:nvPr/>
        </p:nvSpPr>
        <p:spPr>
          <a:xfrm>
            <a:off x="3712464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94176" y="315468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comparison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3840480"/>
            <a:ext cx="20299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branch, doctor or service is thriving, and which needs attention, side by side.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214884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1E5A40"/>
          </a:solidFill>
          <a:ln/>
          <a:effectLst>
            <a:outerShdw sx="100000" sy="100000" kx="0" ky="0" algn="bl" rotWithShape="0" blurRad="76200" dist="25400" dir="5400000">
              <a:srgbClr val="8A7A5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0528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99A4B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15468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3840480"/>
            <a:ext cx="20299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and reorder needs across branches, without a single phone call to check.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34272" y="214884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1E5A40"/>
          </a:solidFill>
          <a:ln/>
          <a:effectLst>
            <a:outerShdw sx="100000" sy="100000" kx="0" ky="0" algn="bl" rotWithShape="0" blurRad="76200" dist="25400" dir="5400000">
              <a:srgbClr val="8A7A5E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08592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99A4B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90304" y="315468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trends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90304" y="3840480"/>
            <a:ext cx="20299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Recalls, lapsed patients and repeat visits surfaced automatically — so no loyal patient quietly drifts away.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owner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3E7A5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patient: their clinic, in their pocket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home-grown Aurah 360 app — built for this clinic's own patients, not a generic template.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in seconds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706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branch, doctor and time — from home, no phone call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33172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7706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Appointments, prescriptions, treatment history and bills, always at hand.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35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reminders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9410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visits and follow-up care nudges, so nothing is forgotten.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502152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5935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their language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9410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English, Gujarati and Hindi — whichever feels most like home.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patient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built in — not bolted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7A5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1566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5A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156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2821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doctor is always in control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093976"/>
            <a:ext cx="9692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suggest questions or a draft note — but nothing is saved until the doctor reviews, edits or approves it. Clinic admins can switch any AI feature off instantly, any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88136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7A5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14096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5A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409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95351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role sees only what it needs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319272"/>
            <a:ext cx="9692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Reception, doctors, pharmacy and management each see exactly the information relevant to their job — nothing more.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50792"/>
            <a:ext cx="1088136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7A5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662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5A4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662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data stays protected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544568"/>
            <a:ext cx="9692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staff logins, and a private patient login of their own — a patient's records are never visible to another patient.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76088"/>
            <a:ext cx="1088136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7A5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59155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5A4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915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4041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5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that can't be quietly changed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00200" y="5769864"/>
            <a:ext cx="9692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consultation note or prescription is signed and finalized, it locks — protecting both the patient and the clinic.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grow — one branch or many, same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can open a second, third or tenth branch without starting over on software.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43C2A"/>
          </a:solidFill>
          <a:ln w="12700">
            <a:solidFill>
              <a:srgbClr val="C99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foundations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services, patients and pricing are set up once and used everywhere — no re-entering the basics per branch.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43C2A"/>
          </a:solidFill>
          <a:ln w="12700">
            <a:solidFill>
              <a:srgbClr val="C99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651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3337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daily operations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39776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runs its own reception, queue and schedule at its own pace, side by side with every other branch.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43C2A"/>
          </a:solidFill>
          <a:ln w="12700">
            <a:solidFill>
              <a:srgbClr val="C99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651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95360" y="3337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picture at the top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95360" y="39776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sees every branch's performance in a single view — compare, spot trends, and act — without visiting each site.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ready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320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where we 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352E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clinic experience is live and running today. A few connections to outside services are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1E5A40"/>
          </a:solidFill>
          <a:ln/>
          <a:effectLst>
            <a:outerShdw sx="100000" sy="100000" kx="0" ky="0" algn="bl" rotWithShape="0" blurRad="76200" dist="25400" dir="5400000">
              <a:srgbClr val="8A7A5E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Enquiry-to-patient CRM with follow-up tasks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1821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Reception check-in and a live, real-time queue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62102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doctor consultation notes, with doctor-controlled AI drafting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0599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Digital prescriptions &amp; treatment plans with consent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4988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Billing with partial payments; sessions gated on payment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9377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Pharmacy, inventory and expiry protection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537667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Owner dashboards, reports and branch comparisons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581558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Patient web portal and native mobile app — in English, Gujarati &amp; Hindi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9050">
            <a:solidFill>
              <a:srgbClr val="C99A4B"/>
            </a:solidFill>
            <a:prstDash val="solid"/>
          </a:ln>
          <a:effectLst>
            <a:outerShdw sx="100000" sy="100000" kx="0" ky="0" algn="bl" rotWithShape="0" blurRad="63500" dist="25400" dir="5400000">
              <a:srgbClr val="8A7A5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22402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E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7889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WhatsApp &amp; SMS delivery for reminders and recalls (today: ready, running on internal messaging)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6576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Online payment gateway for cards &amp; UPI at checkout (today: cash and in-clinic payment recording)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45262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Deeper self-booking features in the patient app: rescheduling and family member profiles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53949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Push notifications and biometric app lock for the patient 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 360 ClinicOS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3E7A5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5486400" cy="5486400"/>
          </a:xfrm>
          <a:prstGeom prst="ellipse">
            <a:avLst/>
          </a:prstGeom>
          <a:solidFill>
            <a:srgbClr val="143C2A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typing.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care.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patient journey — for the people who run Aurah 360,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BF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people who trust it with their care.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5212080"/>
            <a:ext cx="2926080" cy="0"/>
          </a:xfrm>
          <a:prstGeom prst="line">
            <a:avLst/>
          </a:prstGeom>
          <a:noFill/>
          <a:ln w="25400">
            <a:solidFill>
              <a:srgbClr val="C99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94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Aurah 360 ClinicOS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2026-08-06T13:31:26Z</dcterms:created>
  <dcterms:modified xsi:type="dcterms:W3CDTF">2026-08-06T13:31:26Z</dcterms:modified>
</cp:coreProperties>
</file>